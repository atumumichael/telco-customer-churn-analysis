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3B6D8-7BD4-52DF-88E2-07BDCB50C6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18FC6A-C989-60B3-EE88-89D188A89E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8643D4-5AA4-3D10-7DFC-8407A22EA582}"/>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8FB3B50D-A3EC-B6D2-A61A-2F3DF7223E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E3079-A61B-EDE9-41F8-C5E649505895}"/>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196085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5762F-02F5-A35A-727B-C4CEBED995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28760E-BA27-F4C7-E117-73701220C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96892-9B17-FF96-68AF-02488C0B5236}"/>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6C36ECAF-5F77-897D-FA8C-BE82F3FC8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6C8FC7-86D0-35F9-628B-55FE0A473B75}"/>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339357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818E3-4940-2C62-4D7E-24FD6496DE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5A5D6B-AB26-48EC-F683-07C54CDC8F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82F84-9760-1C90-A9D9-ABD175F7EE1E}"/>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971A0026-1AD6-2E4C-352A-C91BE190A8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3DCB0-E782-2975-4634-7E6F16C9E4BC}"/>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1552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EA1C-A3AD-E600-CF96-A82D69619B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791CEF-65E4-00D4-9C06-247A99BD86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B897E3-CD57-1555-CC65-8DE08DC1D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41BFF3-928B-96EE-BBC6-833B8F0B2D7D}"/>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6" name="Footer Placeholder 5">
            <a:extLst>
              <a:ext uri="{FF2B5EF4-FFF2-40B4-BE49-F238E27FC236}">
                <a16:creationId xmlns:a16="http://schemas.microsoft.com/office/drawing/2014/main" id="{B4C391F7-6497-3849-1ED9-DB50BA682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CA78FD-810A-E24E-9B7E-BA2C5C6AB101}"/>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322434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2549-C606-4585-27FC-7A8A73669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1EF9AC-82CF-E8CB-38DA-88731DCDB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D5B20F-21B0-21B9-9B1A-421A359F11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4E870-DD0C-90E2-8741-9619DD4E76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D81D6A-2100-B60C-63F8-26FC336F55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FECC04-6B91-F45E-A37C-024A8C614910}"/>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8" name="Footer Placeholder 7">
            <a:extLst>
              <a:ext uri="{FF2B5EF4-FFF2-40B4-BE49-F238E27FC236}">
                <a16:creationId xmlns:a16="http://schemas.microsoft.com/office/drawing/2014/main" id="{98C5300C-B644-BC4A-FFF6-FB807FA0C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A458CD-7619-1E87-B88E-CBDCC0E14A3C}"/>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4106684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7E90-AAD3-6181-B4C4-2BE23E1052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9E73DC-66FF-9990-46A6-95B318C501E6}"/>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4" name="Footer Placeholder 3">
            <a:extLst>
              <a:ext uri="{FF2B5EF4-FFF2-40B4-BE49-F238E27FC236}">
                <a16:creationId xmlns:a16="http://schemas.microsoft.com/office/drawing/2014/main" id="{7435166D-29F8-F398-BDD1-432BB2E1E7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D26AB1-DEAD-1772-951A-54F4E65F6B2D}"/>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589045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4CFC2C-3C99-07F3-AAB8-902CFABC82F4}"/>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3" name="Footer Placeholder 2">
            <a:extLst>
              <a:ext uri="{FF2B5EF4-FFF2-40B4-BE49-F238E27FC236}">
                <a16:creationId xmlns:a16="http://schemas.microsoft.com/office/drawing/2014/main" id="{6C69DB69-CBC1-02BE-9B18-94B376B4C6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D3887C-9F2F-3E7D-6966-4A8D5F6B8FEB}"/>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38776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A653E-6DAF-BAC6-4672-43EEC7D8D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2AC25A-5884-6511-C0BC-9535F78FA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F477A4-DE17-044E-D398-9F545A8C26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38A3B4-6559-3386-D45A-C7DA7CFE464D}"/>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6" name="Footer Placeholder 5">
            <a:extLst>
              <a:ext uri="{FF2B5EF4-FFF2-40B4-BE49-F238E27FC236}">
                <a16:creationId xmlns:a16="http://schemas.microsoft.com/office/drawing/2014/main" id="{33F5CCC5-1D39-70D4-C33E-7103E6730C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8EE314-C7FC-CA58-5747-ABE2C8D1E0ED}"/>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1960876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093D-F904-7FE7-DC71-1B896724E6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948D99-AA00-2C23-D37E-EEDCA2B827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B11066-8A95-03C0-CFE2-40C894513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7426AB-F467-E9BA-2C80-2C246C160D10}"/>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6" name="Footer Placeholder 5">
            <a:extLst>
              <a:ext uri="{FF2B5EF4-FFF2-40B4-BE49-F238E27FC236}">
                <a16:creationId xmlns:a16="http://schemas.microsoft.com/office/drawing/2014/main" id="{45E7B5CD-C51C-FD26-AEF6-60BA3F3CF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694085-BC40-200E-FEDF-C58CD1D941D4}"/>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4049615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9EB8A-9478-C45D-9217-DF3BDC51BE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06D093-BE36-6429-9A9F-F173C34131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7E7FA-C249-86DA-59F3-FCEB467AA1EC}"/>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996FB0F4-BE53-5AA3-5021-D76B81267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A6162-F48E-935E-9377-AB705A6C4BAF}"/>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3619475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1B7ECE-FF8C-EB62-4432-6353F83EB2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120B52-F625-6C62-3A33-61AC1A6043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0C6FA7-9381-31B2-4191-C2C147305E36}"/>
              </a:ext>
            </a:extLst>
          </p:cNvPr>
          <p:cNvSpPr>
            <a:spLocks noGrp="1"/>
          </p:cNvSpPr>
          <p:nvPr>
            <p:ph type="dt" sz="half" idx="10"/>
          </p:nvPr>
        </p:nvSpPr>
        <p:spPr/>
        <p:txBody>
          <a:body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ED6F44A1-B8FD-994F-1D90-2D1869560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B13B9-057A-DC63-C817-73E68B78716C}"/>
              </a:ext>
            </a:extLst>
          </p:cNvPr>
          <p:cNvSpPr>
            <a:spLocks noGrp="1"/>
          </p:cNvSpPr>
          <p:nvPr>
            <p:ph type="sldNum" sz="quarter" idx="12"/>
          </p:nvPr>
        </p:nvSpPr>
        <p:spPr/>
        <p:txBody>
          <a:bodyPr/>
          <a:lstStyle/>
          <a:p>
            <a:fld id="{4AD214E0-15B2-4E38-A82E-328B871FD416}" type="slidenum">
              <a:rPr lang="en-US" smtClean="0"/>
              <a:t>‹#›</a:t>
            </a:fld>
            <a:endParaRPr lang="en-US"/>
          </a:p>
        </p:txBody>
      </p:sp>
    </p:spTree>
    <p:extLst>
      <p:ext uri="{BB962C8B-B14F-4D97-AF65-F5344CB8AC3E}">
        <p14:creationId xmlns:p14="http://schemas.microsoft.com/office/powerpoint/2010/main" val="1908634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928377-C442-EF48-CFC5-30A5DE38A6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8F4020-039B-4044-85E9-6BE8D77F7F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7F167-65EE-705A-B2E5-80A488CBF9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65970-C335-41D3-AB12-5122320CD823}" type="datetimeFigureOut">
              <a:rPr lang="en-US" smtClean="0"/>
              <a:t>8/8/2026</a:t>
            </a:fld>
            <a:endParaRPr lang="en-US"/>
          </a:p>
        </p:txBody>
      </p:sp>
      <p:sp>
        <p:nvSpPr>
          <p:cNvPr id="5" name="Footer Placeholder 4">
            <a:extLst>
              <a:ext uri="{FF2B5EF4-FFF2-40B4-BE49-F238E27FC236}">
                <a16:creationId xmlns:a16="http://schemas.microsoft.com/office/drawing/2014/main" id="{858BB518-902C-8403-FACF-127B74B041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67C988-78F4-C3A2-C872-A85F4857A6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D214E0-15B2-4E38-A82E-328B871FD416}" type="slidenum">
              <a:rPr lang="en-US" smtClean="0"/>
              <a:t>‹#›</a:t>
            </a:fld>
            <a:endParaRPr lang="en-US"/>
          </a:p>
        </p:txBody>
      </p:sp>
    </p:spTree>
    <p:extLst>
      <p:ext uri="{BB962C8B-B14F-4D97-AF65-F5344CB8AC3E}">
        <p14:creationId xmlns:p14="http://schemas.microsoft.com/office/powerpoint/2010/main" val="2646538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2645-18D2-A8D4-C28E-2BEC5980DA4E}"/>
              </a:ext>
            </a:extLst>
          </p:cNvPr>
          <p:cNvSpPr>
            <a:spLocks noGrp="1"/>
          </p:cNvSpPr>
          <p:nvPr>
            <p:ph type="ctrTitle"/>
          </p:nvPr>
        </p:nvSpPr>
        <p:spPr>
          <a:xfrm>
            <a:off x="1413164" y="1122363"/>
            <a:ext cx="9254836" cy="2387600"/>
          </a:xfrm>
        </p:spPr>
        <p:txBody>
          <a:bodyPr/>
          <a:lstStyle/>
          <a:p>
            <a:r>
              <a:rPr lang="en-US" dirty="0"/>
              <a:t>Telco Customer Churn Analysis</a:t>
            </a:r>
          </a:p>
        </p:txBody>
      </p:sp>
      <p:sp>
        <p:nvSpPr>
          <p:cNvPr id="3" name="Subtitle 2">
            <a:extLst>
              <a:ext uri="{FF2B5EF4-FFF2-40B4-BE49-F238E27FC236}">
                <a16:creationId xmlns:a16="http://schemas.microsoft.com/office/drawing/2014/main" id="{E8F11770-71FB-AEB3-F039-3D9F39CD093A}"/>
              </a:ext>
            </a:extLst>
          </p:cNvPr>
          <p:cNvSpPr>
            <a:spLocks noGrp="1"/>
          </p:cNvSpPr>
          <p:nvPr>
            <p:ph type="subTitle" idx="1"/>
          </p:nvPr>
        </p:nvSpPr>
        <p:spPr/>
        <p:txBody>
          <a:bodyPr>
            <a:normAutofit lnSpcReduction="10000"/>
          </a:bodyPr>
          <a:lstStyle/>
          <a:p>
            <a:r>
              <a:rPr lang="en-US" dirty="0"/>
              <a:t>Business Analytics Case Study</a:t>
            </a:r>
          </a:p>
          <a:p>
            <a:r>
              <a:rPr lang="en-US" dirty="0"/>
              <a:t>Prepared by: Michael Atumu</a:t>
            </a:r>
          </a:p>
          <a:p>
            <a:r>
              <a:rPr lang="en-US" dirty="0" err="1"/>
              <a:t>AnalystLab</a:t>
            </a:r>
            <a:r>
              <a:rPr lang="en-US" dirty="0"/>
              <a:t> Africa Internship Program- week 1</a:t>
            </a:r>
          </a:p>
          <a:p>
            <a:r>
              <a:rPr lang="en-US" dirty="0"/>
              <a:t>Date:8 August 2026</a:t>
            </a:r>
          </a:p>
        </p:txBody>
      </p:sp>
    </p:spTree>
    <p:extLst>
      <p:ext uri="{BB962C8B-B14F-4D97-AF65-F5344CB8AC3E}">
        <p14:creationId xmlns:p14="http://schemas.microsoft.com/office/powerpoint/2010/main" val="1506096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AE6CE-E753-5922-5F35-C3216D0703BA}"/>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8CBE1FA7-3619-8ADE-F2F4-7857680307BF}"/>
              </a:ext>
            </a:extLst>
          </p:cNvPr>
          <p:cNvSpPr>
            <a:spLocks noGrp="1"/>
          </p:cNvSpPr>
          <p:nvPr>
            <p:ph idx="1"/>
          </p:nvPr>
        </p:nvSpPr>
        <p:spPr/>
        <p:txBody>
          <a:bodyPr>
            <a:normAutofit fontScale="92500" lnSpcReduction="20000"/>
          </a:bodyPr>
          <a:lstStyle/>
          <a:p>
            <a:r>
              <a:rPr lang="en-US" dirty="0"/>
              <a:t>Background</a:t>
            </a:r>
          </a:p>
          <a:p>
            <a:pPr marL="0" indent="0">
              <a:buNone/>
            </a:pPr>
            <a:r>
              <a:rPr lang="en-US" dirty="0"/>
              <a:t>Customer churn is a significant challenge in the telecommunications industry. Losing customers reduces revenue and increases the cost of acquiring new customers.</a:t>
            </a:r>
          </a:p>
          <a:p>
            <a:pPr marL="0" indent="0">
              <a:buNone/>
            </a:pPr>
            <a:r>
              <a:rPr lang="en-US" dirty="0"/>
              <a:t>  Problem Statement</a:t>
            </a:r>
          </a:p>
          <a:p>
            <a:pPr marL="0" indent="0">
              <a:buNone/>
            </a:pPr>
            <a:r>
              <a:rPr lang="en-US" dirty="0"/>
              <a:t>This analysis aims to identify the factors contributing to customer churn and provide actionable recommendations to improve customer retention.</a:t>
            </a:r>
          </a:p>
          <a:p>
            <a:pPr marL="0" indent="0">
              <a:buNone/>
            </a:pPr>
            <a:r>
              <a:rPr lang="en-US" dirty="0"/>
              <a:t>  Objectives</a:t>
            </a:r>
          </a:p>
          <a:p>
            <a:pPr marL="0" indent="0">
              <a:buNone/>
            </a:pPr>
            <a:r>
              <a:rPr lang="en-US" dirty="0"/>
              <a:t>. Determine the customer churn rate.</a:t>
            </a:r>
          </a:p>
          <a:p>
            <a:pPr marL="0" indent="0">
              <a:buNone/>
            </a:pPr>
            <a:r>
              <a:rPr lang="en-US" dirty="0"/>
              <a:t>. Identify the main drivers of churn.</a:t>
            </a:r>
          </a:p>
          <a:p>
            <a:pPr marL="0" indent="0">
              <a:buNone/>
            </a:pPr>
            <a:r>
              <a:rPr lang="en-US" dirty="0"/>
              <a:t>. Recommend strategies to improve customer retention.</a:t>
            </a:r>
          </a:p>
        </p:txBody>
      </p:sp>
    </p:spTree>
    <p:extLst>
      <p:ext uri="{BB962C8B-B14F-4D97-AF65-F5344CB8AC3E}">
        <p14:creationId xmlns:p14="http://schemas.microsoft.com/office/powerpoint/2010/main" val="3801334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2FA9-EB5B-47D2-E441-DCB90E3626F6}"/>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FEF473F6-A9CA-017C-F474-49348132E750}"/>
              </a:ext>
            </a:extLst>
          </p:cNvPr>
          <p:cNvSpPr>
            <a:spLocks noGrp="1"/>
          </p:cNvSpPr>
          <p:nvPr>
            <p:ph idx="1"/>
          </p:nvPr>
        </p:nvSpPr>
        <p:spPr/>
        <p:txBody>
          <a:bodyPr>
            <a:normAutofit lnSpcReduction="10000"/>
          </a:bodyPr>
          <a:lstStyle/>
          <a:p>
            <a:r>
              <a:rPr lang="en-US" dirty="0"/>
              <a:t>Dataset Information</a:t>
            </a:r>
          </a:p>
          <a:p>
            <a:r>
              <a:rPr lang="en-US" dirty="0"/>
              <a:t>Dataset: Telco Customer Churn</a:t>
            </a:r>
          </a:p>
          <a:p>
            <a:r>
              <a:rPr lang="en-US" dirty="0"/>
              <a:t>Source: Kaggle (IBM Sample Dataset)</a:t>
            </a:r>
          </a:p>
          <a:p>
            <a:r>
              <a:rPr lang="en-US" dirty="0"/>
              <a:t>Total Customers: 7,043</a:t>
            </a:r>
          </a:p>
          <a:p>
            <a:r>
              <a:rPr lang="en-US" dirty="0"/>
              <a:t>Total Features: 21</a:t>
            </a:r>
          </a:p>
          <a:p>
            <a:r>
              <a:rPr lang="en-US" dirty="0"/>
              <a:t>Target Variable: Churn</a:t>
            </a:r>
          </a:p>
          <a:p>
            <a:r>
              <a:rPr lang="en-US" dirty="0"/>
              <a:t>       Tools Used</a:t>
            </a:r>
          </a:p>
          <a:p>
            <a:r>
              <a:rPr lang="en-US" dirty="0"/>
              <a:t>Microsoft Excel</a:t>
            </a:r>
          </a:p>
          <a:p>
            <a:r>
              <a:rPr lang="en-US" dirty="0"/>
              <a:t>Power BI</a:t>
            </a:r>
          </a:p>
        </p:txBody>
      </p:sp>
    </p:spTree>
    <p:extLst>
      <p:ext uri="{BB962C8B-B14F-4D97-AF65-F5344CB8AC3E}">
        <p14:creationId xmlns:p14="http://schemas.microsoft.com/office/powerpoint/2010/main" val="251614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F6D647-5AF3-D91E-4769-10F0DF5FBD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7999"/>
          </a:xfrm>
        </p:spPr>
      </p:pic>
    </p:spTree>
    <p:extLst>
      <p:ext uri="{BB962C8B-B14F-4D97-AF65-F5344CB8AC3E}">
        <p14:creationId xmlns:p14="http://schemas.microsoft.com/office/powerpoint/2010/main" val="1926072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9EE5C-2802-075F-7950-4DB92214995B}"/>
              </a:ext>
            </a:extLst>
          </p:cNvPr>
          <p:cNvSpPr>
            <a:spLocks noGrp="1"/>
          </p:cNvSpPr>
          <p:nvPr>
            <p:ph type="title"/>
          </p:nvPr>
        </p:nvSpPr>
        <p:spPr/>
        <p:txBody>
          <a:bodyPr/>
          <a:lstStyle/>
          <a:p>
            <a:r>
              <a:rPr lang="en-US" dirty="0"/>
              <a:t>Key Findings</a:t>
            </a:r>
          </a:p>
        </p:txBody>
      </p:sp>
      <p:sp>
        <p:nvSpPr>
          <p:cNvPr id="3" name="Content Placeholder 2">
            <a:extLst>
              <a:ext uri="{FF2B5EF4-FFF2-40B4-BE49-F238E27FC236}">
                <a16:creationId xmlns:a16="http://schemas.microsoft.com/office/drawing/2014/main" id="{5C026068-4B5B-061D-5C13-A7B642AE9193}"/>
              </a:ext>
            </a:extLst>
          </p:cNvPr>
          <p:cNvSpPr>
            <a:spLocks noGrp="1"/>
          </p:cNvSpPr>
          <p:nvPr>
            <p:ph idx="1"/>
          </p:nvPr>
        </p:nvSpPr>
        <p:spPr/>
        <p:txBody>
          <a:bodyPr/>
          <a:lstStyle/>
          <a:p>
            <a:r>
              <a:rPr lang="en-US" dirty="0"/>
              <a:t>Overall customer churn rate is 26.54%.</a:t>
            </a:r>
          </a:p>
          <a:p>
            <a:r>
              <a:rPr lang="en-US" dirty="0"/>
              <a:t>Customers on month-to-month contracts are more likely to churn than those on one-year or two-year contracts.</a:t>
            </a:r>
          </a:p>
          <a:p>
            <a:r>
              <a:rPr lang="en-US" dirty="0"/>
              <a:t>Customers using electronic checks show higher churn compared to other payment methods.</a:t>
            </a:r>
          </a:p>
          <a:p>
            <a:r>
              <a:rPr lang="en-US" dirty="0"/>
              <a:t>Customers with Fiber Optic internet service experience higher churn than customers using DSL.</a:t>
            </a:r>
          </a:p>
          <a:p>
            <a:r>
              <a:rPr lang="en-US" dirty="0"/>
              <a:t>Customers who churn generally have higher average monthly charges.</a:t>
            </a:r>
          </a:p>
        </p:txBody>
      </p:sp>
    </p:spTree>
    <p:extLst>
      <p:ext uri="{BB962C8B-B14F-4D97-AF65-F5344CB8AC3E}">
        <p14:creationId xmlns:p14="http://schemas.microsoft.com/office/powerpoint/2010/main" val="163818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4666-3F24-6114-D720-67844913E28E}"/>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D45269C8-B696-F878-B17F-DC5423CD28E3}"/>
              </a:ext>
            </a:extLst>
          </p:cNvPr>
          <p:cNvSpPr>
            <a:spLocks noGrp="1"/>
          </p:cNvSpPr>
          <p:nvPr>
            <p:ph idx="1"/>
          </p:nvPr>
        </p:nvSpPr>
        <p:spPr/>
        <p:txBody>
          <a:bodyPr>
            <a:normAutofit lnSpcReduction="10000"/>
          </a:bodyPr>
          <a:lstStyle/>
          <a:p>
            <a:pPr marL="514350" indent="-514350">
              <a:buAutoNum type="arabicPeriod"/>
            </a:pPr>
            <a:r>
              <a:rPr lang="en-US" dirty="0"/>
              <a:t>Encourage customers to switch from month-to-month contracts to long-term contracts by offering discounts or loyalty incentives.</a:t>
            </a:r>
          </a:p>
          <a:p>
            <a:pPr marL="514350" indent="-514350">
              <a:buAutoNum type="arabicPeriod"/>
            </a:pPr>
            <a:r>
              <a:rPr lang="en-US" dirty="0"/>
              <a:t>Investigate the reasons behind higher churn among Fiber Optic customers and improve service quality where needed.</a:t>
            </a:r>
          </a:p>
          <a:p>
            <a:pPr marL="514350" indent="-514350">
              <a:buAutoNum type="arabicPeriod"/>
            </a:pPr>
            <a:r>
              <a:rPr lang="en-US" dirty="0"/>
              <a:t>Review pricing strategies for customers with higher monthly charges to improve perceived value.</a:t>
            </a:r>
          </a:p>
          <a:p>
            <a:pPr marL="514350" indent="-514350">
              <a:buAutoNum type="arabicPeriod"/>
            </a:pPr>
            <a:r>
              <a:rPr lang="en-US" dirty="0"/>
              <a:t>Promote automatic payment methods through incentives to encourage convenient and consistent payments.</a:t>
            </a:r>
          </a:p>
          <a:p>
            <a:pPr marL="514350" indent="-514350">
              <a:buAutoNum type="arabicPeriod"/>
            </a:pPr>
            <a:r>
              <a:rPr lang="en-US" dirty="0"/>
              <a:t>Develop targeted retention campaigns for customers identified as being at high risk of churning</a:t>
            </a:r>
          </a:p>
        </p:txBody>
      </p:sp>
    </p:spTree>
    <p:extLst>
      <p:ext uri="{BB962C8B-B14F-4D97-AF65-F5344CB8AC3E}">
        <p14:creationId xmlns:p14="http://schemas.microsoft.com/office/powerpoint/2010/main" val="211562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F31F-6C18-F55E-8853-176666F2E80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FA45453-CA71-EE26-156A-2327E27B6520}"/>
              </a:ext>
            </a:extLst>
          </p:cNvPr>
          <p:cNvSpPr>
            <a:spLocks noGrp="1"/>
          </p:cNvSpPr>
          <p:nvPr>
            <p:ph idx="1"/>
          </p:nvPr>
        </p:nvSpPr>
        <p:spPr/>
        <p:txBody>
          <a:bodyPr/>
          <a:lstStyle/>
          <a:p>
            <a:pPr marL="0" indent="0">
              <a:buNone/>
            </a:pPr>
            <a:r>
              <a:rPr lang="en-US" dirty="0"/>
              <a:t>The analysis identified several factors associated with customer churn, including contract type, internet service, payment method, and monthly charges. By acting on these insights, the company can strengthen customer retention, improve customer satisfaction, and reduce revenue loss.</a:t>
            </a:r>
          </a:p>
          <a:p>
            <a:pPr marL="0" indent="0">
              <a:buNone/>
            </a:pPr>
            <a:endParaRPr lang="en-US" dirty="0"/>
          </a:p>
          <a:p>
            <a:pPr marL="0" indent="0">
              <a:buNone/>
            </a:pPr>
            <a:r>
              <a:rPr lang="en-US" dirty="0"/>
              <a:t>Thank You</a:t>
            </a:r>
          </a:p>
        </p:txBody>
      </p:sp>
    </p:spTree>
    <p:extLst>
      <p:ext uri="{BB962C8B-B14F-4D97-AF65-F5344CB8AC3E}">
        <p14:creationId xmlns:p14="http://schemas.microsoft.com/office/powerpoint/2010/main" val="89742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323</Words>
  <Application>Microsoft Office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Telco Customer Churn Analysis</vt:lpstr>
      <vt:lpstr>Business Problem</vt:lpstr>
      <vt:lpstr>Dataset Overview</vt:lpstr>
      <vt:lpstr>PowerPoint Presentation</vt:lpstr>
      <vt:lpstr>Key Findings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Telco Customer Churn Analysis</dc:title>
  <dc:creator>michael atumu</dc:creator>
  <cp:lastModifiedBy>michael atumu</cp:lastModifiedBy>
  <cp:revision>3</cp:revision>
  <dcterms:created xsi:type="dcterms:W3CDTF">2026-08-09T04:06:14Z</dcterms:created>
  <dcterms:modified xsi:type="dcterms:W3CDTF">2026-08-09T04:36:19Z</dcterms:modified>
</cp:coreProperties>
</file>